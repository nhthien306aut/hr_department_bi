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65" r:id="rId6"/>
    <p:sldId id="266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755D-2B90-3B24-8E6A-FCE28FB17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2B3AE-C349-81CA-E5A5-97CE6822B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46EC4-8119-74FF-A6A3-F41F6A36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D713-C325-EA04-A5B7-79862E18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E7F2F-1537-8FF5-C52F-770CD5F5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8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B3277-37C1-E2B6-36AF-6CE822525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CB023-10AD-03F7-17C5-8E4BCD65C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2D74F-F9D3-C343-5463-05B1A73C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27D90-1FDF-6D17-A545-07680E6B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2001-1FD3-6F0F-764F-1B055DF9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4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C3D6-0856-D584-300E-0829DCF5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4E543-522F-6B92-8E91-9B97AF374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7E533-89D6-5F8C-1FE3-05688B26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D606B-60CE-DE0B-3345-478AEA53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4F9C0-1D35-2446-5E27-CB629D70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0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138C-57BB-54B5-CED6-EA89673CD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4AE7F-B9A0-2529-3889-61A7CD825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5BBC3-BC30-02FE-571D-43C592C13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6BEC9-CB0C-A3E8-6397-C42956B84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AAF9A-AA48-8810-628F-8934D4E0A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5895A-D523-9B1F-7C75-E0DE0929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7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1A9A-69D2-940D-D272-596E1F5E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5D9EA-4069-1E3A-CAFE-F7D374339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19820-6E93-A64D-FCE5-78FF2298B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58F30-3843-B133-D881-845F15728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AA2F0-1956-23CD-B57B-F056440EB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4BB1A-24CF-95F9-F771-7D43A615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156B80-6B74-657D-0B6C-0D681A33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ABC1D4-5787-1FE0-EF16-858CD57B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8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9BF6-2E10-5814-9799-0ABCAE07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F59B9-C7BB-CD20-8D57-63A8158A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E219E-1078-0003-FE20-35AD09479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780B9-9DB3-C1C5-6A95-016E8FC2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9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96D66-CF6A-424D-A738-F2B012F0D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F863E-4652-7BBA-4601-580287F5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93613-C42B-F7C3-498A-0C7A511A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32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62F4-C8DA-ECD2-77D6-3BF61DC88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3949-1959-8D84-226C-E5758F8E8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C3C7C-EE28-19D2-F2B5-DD56ADDB6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76B38-A4AF-5EFF-6BA4-6C95E70E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E4854-7FC2-5067-79A5-DF8846B7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5FB78-24F0-347E-9177-1F9823B5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5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DF719-ED24-75DA-9548-9C095E164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BF2ED8-B8EA-2E0D-14C1-0D2F73E6E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FA422-7A5C-61AD-A25F-02ED2ED57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4ADED-7DBB-8A6F-8DCB-2D5AF37A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4C12D-A8C3-7259-80FC-ACE8B153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A7CB4-9EA8-4DDD-1EA0-EEEC56DF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25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7F31-6232-5A1C-1F3E-BB092B43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6FD96-3A85-DEEC-7C17-1DA1269D0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9A0A2-5DEF-E982-102E-EBF4A930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095F9-2F33-FEE9-F9BB-F775BD31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BCCB5-7166-CC32-5EA1-9AB5EE8E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3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258D75-145E-E541-C828-2A707B11A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CE226-A693-DEDA-681E-248721360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9F1A7-F64E-F761-5562-1B6F719E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94377-B61A-2D8F-5575-36A98851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CDB6D-02DF-4D4C-F465-4FE3EBD9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9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EABF7-1CAE-D499-C1A4-7F602BDE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0159E-24EE-3779-9492-D5AE4F43C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72AC8-35AD-1B82-D4DF-B231EB0D6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73712-8D36-4421-AB28-5ACB64C45B0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089A3-DA33-E479-F42C-95F2191350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17053-5FD2-624F-88EF-F1A6478E5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B501A-4EC6-4E0A-93A8-9B2D8AC2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1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D18F-D33D-7653-E9A6-DF2211D94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HR Department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A37697-F515-BC3E-5E56-566E33621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I. Overview Dashboard</a:t>
            </a:r>
          </a:p>
          <a:p>
            <a:pPr algn="l"/>
            <a:r>
              <a:rPr lang="en-US" dirty="0"/>
              <a:t>- It is divided into 3 areas:</a:t>
            </a:r>
          </a:p>
          <a:p>
            <a:pPr algn="l"/>
            <a:r>
              <a:rPr lang="en-US" dirty="0"/>
              <a:t>- Area 1: </a:t>
            </a:r>
          </a:p>
          <a:p>
            <a:pPr algn="l"/>
            <a:r>
              <a:rPr lang="en-US" dirty="0"/>
              <a:t>	+ Total recruited employees</a:t>
            </a:r>
          </a:p>
          <a:p>
            <a:pPr algn="l"/>
            <a:r>
              <a:rPr lang="en-US" dirty="0"/>
              <a:t>	+ Average Monthly Income</a:t>
            </a:r>
          </a:p>
          <a:p>
            <a:pPr algn="l"/>
            <a:r>
              <a:rPr lang="en-US" dirty="0"/>
              <a:t>	+ Average Tenure</a:t>
            </a:r>
          </a:p>
          <a:p>
            <a:pPr algn="l"/>
            <a:r>
              <a:rPr lang="en-US" dirty="0"/>
              <a:t>	+ Average age</a:t>
            </a:r>
          </a:p>
          <a:p>
            <a:pPr algn="l"/>
            <a:r>
              <a:rPr lang="en-US" dirty="0"/>
              <a:t>	+ Average Distance from home</a:t>
            </a:r>
          </a:p>
          <a:p>
            <a:pPr algn="l"/>
            <a:r>
              <a:rPr lang="en-US" dirty="0"/>
              <a:t>	+ Ratio: Male/Female</a:t>
            </a:r>
          </a:p>
          <a:p>
            <a:pPr algn="l"/>
            <a:r>
              <a:rPr lang="en-US" dirty="0"/>
              <a:t>	+ Distribution by Department(stayed) </a:t>
            </a:r>
          </a:p>
          <a:p>
            <a:pPr algn="l"/>
            <a:r>
              <a:rPr lang="en-US" dirty="0"/>
              <a:t>	+ Performance Rating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FF751-3256-095C-314A-F167C9FA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690" y="718456"/>
            <a:ext cx="6556310" cy="61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36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4F021-BE99-47E1-16E3-6BD59545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962C-CBCA-3C3B-71A0-5CDF45D73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HR Department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D9C5C-75D6-6610-5BA3-6F91771C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I. Overview Dashboard</a:t>
            </a:r>
          </a:p>
          <a:p>
            <a:pPr algn="l"/>
            <a:r>
              <a:rPr lang="en-US" dirty="0"/>
              <a:t>- Area 2: </a:t>
            </a:r>
          </a:p>
          <a:p>
            <a:pPr algn="l"/>
            <a:r>
              <a:rPr lang="en-US" dirty="0"/>
              <a:t>	+ Stacked bar by Role, Level (left)</a:t>
            </a:r>
            <a:br>
              <a:rPr lang="en-US" dirty="0"/>
            </a:br>
            <a:r>
              <a:rPr lang="en-US" dirty="0"/>
              <a:t>	+ Environment Satisfaction (0-5)</a:t>
            </a:r>
            <a:br>
              <a:rPr lang="en-US" dirty="0"/>
            </a:br>
            <a:r>
              <a:rPr lang="en-US" dirty="0"/>
              <a:t>	+ Job Involvement (0-5)</a:t>
            </a:r>
            <a:br>
              <a:rPr lang="en-US" dirty="0"/>
            </a:br>
            <a:r>
              <a:rPr lang="en-US" dirty="0"/>
              <a:t>	+ Work Life Balance (0-5)</a:t>
            </a:r>
            <a:br>
              <a:rPr lang="en-US" dirty="0"/>
            </a:br>
            <a:r>
              <a:rPr lang="en-US" dirty="0"/>
              <a:t>	+ Job Satisfaction (0-5)</a:t>
            </a:r>
          </a:p>
          <a:p>
            <a:pPr algn="l"/>
            <a:r>
              <a:rPr lang="en-US" dirty="0"/>
              <a:t>	+ Total left employees</a:t>
            </a:r>
          </a:p>
          <a:p>
            <a:pPr algn="l"/>
            <a:r>
              <a:rPr lang="en-US" dirty="0"/>
              <a:t>	+ Attrition rate (left/stayed + left)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4E251-8559-6223-0731-6B4925932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690" y="718456"/>
            <a:ext cx="6556310" cy="61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33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C327-0795-A8D3-59E6-893E4D17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1BE16-6DDB-3620-C7DC-30AA84D65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HR Department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7A791-D8CF-2CB6-7935-FBA86A238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I. Overview Dashboard</a:t>
            </a:r>
          </a:p>
          <a:p>
            <a:pPr algn="l"/>
            <a:r>
              <a:rPr lang="en-US" dirty="0"/>
              <a:t>- Area 3: </a:t>
            </a:r>
          </a:p>
          <a:p>
            <a:pPr algn="l"/>
            <a:r>
              <a:rPr lang="en-US" dirty="0"/>
              <a:t>+ </a:t>
            </a:r>
            <a:r>
              <a:rPr lang="en-US" b="1" dirty="0"/>
              <a:t>Scatter plot</a:t>
            </a:r>
            <a:r>
              <a:rPr lang="en-US" dirty="0"/>
              <a:t>: Relationship between </a:t>
            </a:r>
            <a:br>
              <a:rPr lang="en-US" dirty="0"/>
            </a:br>
            <a:r>
              <a:rPr lang="en-US" dirty="0"/>
              <a:t>employee tenure &amp; experience,</a:t>
            </a:r>
            <a:br>
              <a:rPr lang="en-US" dirty="0"/>
            </a:br>
            <a:r>
              <a:rPr lang="en-US" dirty="0"/>
              <a:t>colored by number of companies worked </a:t>
            </a:r>
            <a:br>
              <a:rPr lang="en-US" dirty="0"/>
            </a:br>
            <a:r>
              <a:rPr lang="en-US" dirty="0"/>
              <a:t>&amp; sized by monthly income.</a:t>
            </a:r>
          </a:p>
          <a:p>
            <a:pPr algn="l"/>
            <a:br>
              <a:rPr lang="en-US" dirty="0"/>
            </a:br>
            <a:r>
              <a:rPr lang="en-US" dirty="0"/>
              <a:t>+ </a:t>
            </a:r>
            <a:r>
              <a:rPr lang="en-US" b="1" dirty="0"/>
              <a:t>Pie chart</a:t>
            </a:r>
            <a:r>
              <a:rPr lang="en-US" dirty="0"/>
              <a:t>: Distribution of last promotion </a:t>
            </a:r>
            <a:br>
              <a:rPr lang="en-US" dirty="0"/>
            </a:br>
            <a:r>
              <a:rPr lang="en-US" dirty="0"/>
              <a:t>by salary hike, with years under current </a:t>
            </a:r>
            <a:br>
              <a:rPr lang="en-US" dirty="0"/>
            </a:br>
            <a:r>
              <a:rPr lang="en-US" dirty="0"/>
              <a:t>manager shown in tooltip.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+ </a:t>
            </a:r>
            <a:r>
              <a:rPr lang="en-US" b="1" dirty="0"/>
              <a:t>Tree map:</a:t>
            </a:r>
            <a:r>
              <a:rPr lang="en-US" dirty="0"/>
              <a:t> Stock option distribution by </a:t>
            </a:r>
            <a:br>
              <a:rPr lang="en-US" dirty="0"/>
            </a:br>
            <a:r>
              <a:rPr lang="en-US" dirty="0"/>
              <a:t>education field &amp; level.</a:t>
            </a:r>
            <a:endParaRPr lang="en-US" b="1" dirty="0"/>
          </a:p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7C54C-CF5E-7102-EEF2-DE9C90F16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690" y="718456"/>
            <a:ext cx="6556310" cy="61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3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16B7-4288-1357-5A95-8821F9C4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1E13-4C20-A716-1C0E-E037B446F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HR Department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8591D-CF4A-1992-B0DF-378CDEB3F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II. Recruitment Dashboard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- Total payroll</a:t>
            </a:r>
            <a:br>
              <a:rPr lang="en-US" dirty="0"/>
            </a:br>
            <a:r>
              <a:rPr lang="en-US" dirty="0"/>
              <a:t>- Cost per hire - average</a:t>
            </a:r>
            <a:br>
              <a:rPr lang="en-US" dirty="0"/>
            </a:br>
            <a:r>
              <a:rPr lang="en-US" dirty="0"/>
              <a:t>- Time to hire (day) – average</a:t>
            </a:r>
            <a:br>
              <a:rPr lang="en-US" dirty="0"/>
            </a:br>
            <a:r>
              <a:rPr lang="en-US" dirty="0"/>
              <a:t>- Retention – total hired employees </a:t>
            </a:r>
            <a:br>
              <a:rPr lang="en-US" dirty="0"/>
            </a:br>
            <a:r>
              <a:rPr lang="en-US" dirty="0"/>
              <a:t>(Stayed/ left + stayed)</a:t>
            </a:r>
            <a:br>
              <a:rPr lang="en-US" dirty="0"/>
            </a:br>
            <a:r>
              <a:rPr lang="en-US" dirty="0"/>
              <a:t>- Cultural fit – Avg(</a:t>
            </a:r>
            <a:r>
              <a:rPr lang="en-US" dirty="0" err="1"/>
              <a:t>JobSat</a:t>
            </a:r>
            <a:r>
              <a:rPr lang="en-US" dirty="0"/>
              <a:t> + </a:t>
            </a:r>
            <a:r>
              <a:rPr lang="en-US" dirty="0" err="1"/>
              <a:t>EnvSat</a:t>
            </a:r>
            <a:r>
              <a:rPr lang="en-US" dirty="0"/>
              <a:t> + WLB)</a:t>
            </a:r>
            <a:br>
              <a:rPr lang="en-US" dirty="0"/>
            </a:br>
            <a:r>
              <a:rPr lang="en-US" dirty="0"/>
              <a:t>- Effective – Avg( Perf + Involve)</a:t>
            </a:r>
            <a:br>
              <a:rPr lang="en-US" dirty="0"/>
            </a:br>
            <a:r>
              <a:rPr lang="en-US" dirty="0"/>
              <a:t>- Quality of hires: 0.3 retention + </a:t>
            </a:r>
            <a:br>
              <a:rPr lang="en-US" dirty="0"/>
            </a:br>
            <a:r>
              <a:rPr lang="en-US" dirty="0"/>
              <a:t>0.3 cultural + 0.4 effective</a:t>
            </a:r>
            <a:br>
              <a:rPr lang="en-US" dirty="0"/>
            </a:br>
            <a:br>
              <a:rPr lang="en-US" b="1" dirty="0"/>
            </a:b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6EE397-6A1D-47F4-4583-14C8CD300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1053"/>
            <a:ext cx="6705600" cy="589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4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AF44F-D641-5CCA-EA8F-49EFCBF7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E127-D790-52F4-6840-698439DF8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HR Department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EC9E5-9C20-6177-9FA3-C3C1E7544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II. Recruitment Dashboard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- Global dashboard filter</a:t>
            </a:r>
          </a:p>
          <a:p>
            <a:pPr algn="l"/>
            <a:r>
              <a:rPr lang="en-US" dirty="0"/>
              <a:t>- Employee Hires by Channel</a:t>
            </a:r>
            <a:br>
              <a:rPr lang="en-US" dirty="0"/>
            </a:br>
            <a:r>
              <a:rPr lang="en-US" dirty="0"/>
              <a:t>- Hiring Funnel – (conversion rate)</a:t>
            </a:r>
            <a:br>
              <a:rPr lang="en-US" dirty="0"/>
            </a:br>
            <a:r>
              <a:rPr lang="en-US" dirty="0"/>
              <a:t>- Employee Hires by Department</a:t>
            </a:r>
            <a:br>
              <a:rPr lang="en-US" dirty="0"/>
            </a:br>
            <a:r>
              <a:rPr lang="en-US" dirty="0"/>
              <a:t>- Apply trend: year, quarter, month, day</a:t>
            </a:r>
            <a:br>
              <a:rPr lang="en-US" dirty="0"/>
            </a:br>
            <a:r>
              <a:rPr lang="en-US" dirty="0"/>
              <a:t>- Hired trend: year, quarter, month, day</a:t>
            </a:r>
            <a:br>
              <a:rPr lang="en-US" dirty="0"/>
            </a:br>
            <a:br>
              <a:rPr lang="en-US" dirty="0"/>
            </a:br>
            <a:br>
              <a:rPr lang="en-US" b="1" dirty="0"/>
            </a:b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C0AF5-20F4-0521-5D0B-B6D6664ED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1053"/>
            <a:ext cx="6705600" cy="589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3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AA0B-15DA-010C-C255-C95BB408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6526-6682-3C05-B447-D227071A2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HR Department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CDDBD-6960-4E49-AB8D-7CDD617A9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III. Attrition Dashboard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- Global dashboard filter</a:t>
            </a:r>
            <a:br>
              <a:rPr lang="en-US" dirty="0"/>
            </a:br>
            <a:r>
              <a:rPr lang="en-US" dirty="0"/>
              <a:t>- Income by Department (Attrition split)</a:t>
            </a:r>
            <a:br>
              <a:rPr lang="en-US" dirty="0"/>
            </a:br>
            <a:r>
              <a:rPr lang="en-US" dirty="0"/>
              <a:t>- Attrition by Last Promotion (Years)</a:t>
            </a:r>
            <a:br>
              <a:rPr lang="en-US" dirty="0"/>
            </a:br>
            <a:r>
              <a:rPr lang="en-US" dirty="0"/>
              <a:t>- Attrition by Business Travel</a:t>
            </a:r>
            <a:br>
              <a:rPr lang="en-US" dirty="0"/>
            </a:br>
            <a:r>
              <a:rPr lang="en-US" dirty="0"/>
              <a:t>- Attrition by Current Manager (Years)</a:t>
            </a:r>
            <a:br>
              <a:rPr lang="en-US" dirty="0"/>
            </a:br>
            <a:r>
              <a:rPr lang="en-US" dirty="0"/>
              <a:t>- </a:t>
            </a:r>
            <a:r>
              <a:rPr lang="fr-FR" dirty="0"/>
              <a:t>Engagement &amp; Satisfaction (Attrition split)</a:t>
            </a:r>
            <a:br>
              <a:rPr lang="en-US" dirty="0"/>
            </a:br>
            <a:r>
              <a:rPr lang="en-US" dirty="0"/>
              <a:t>- Attrition by Company</a:t>
            </a:r>
            <a:br>
              <a:rPr lang="en-US" dirty="0"/>
            </a:br>
            <a:r>
              <a:rPr lang="en-US" dirty="0"/>
              <a:t>- Attrition by Job Level</a:t>
            </a:r>
            <a:br>
              <a:rPr lang="en-US" dirty="0"/>
            </a:br>
            <a:r>
              <a:rPr lang="en-US" dirty="0"/>
              <a:t>- Attrition by Training (Last Year)</a:t>
            </a:r>
            <a:br>
              <a:rPr lang="en-US" dirty="0"/>
            </a:br>
            <a:br>
              <a:rPr lang="en-US" dirty="0"/>
            </a:br>
            <a:br>
              <a:rPr lang="en-US" b="1" dirty="0"/>
            </a:b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995D9-B903-F339-A7C9-6586DFCD5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416" y="914400"/>
            <a:ext cx="6761584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26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738A-6F9F-1FF7-F0DF-F17F69FA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007E-5AF7-9047-830A-4CA0989B2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HR Department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F82B4-019D-4D17-62D8-12CA62FF3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IV. </a:t>
            </a:r>
            <a:r>
              <a:rPr lang="en-US" b="1" dirty="0" err="1"/>
              <a:t>Workfore</a:t>
            </a:r>
            <a:r>
              <a:rPr lang="en-US" b="1" dirty="0"/>
              <a:t> Detail</a:t>
            </a:r>
            <a:br>
              <a:rPr lang="en-US" b="1" dirty="0"/>
            </a:br>
            <a:endParaRPr lang="en-US" b="1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- Global dashboard filter</a:t>
            </a:r>
            <a:br>
              <a:rPr lang="en-US" dirty="0"/>
            </a:br>
            <a:r>
              <a:rPr lang="en-US" dirty="0"/>
              <a:t>-  </a:t>
            </a:r>
            <a:r>
              <a:rPr lang="en-US" b="1" dirty="0"/>
              <a:t>Context</a:t>
            </a:r>
            <a:r>
              <a:rPr lang="en-US" dirty="0"/>
              <a:t>: related to employee context</a:t>
            </a:r>
            <a:br>
              <a:rPr lang="en-US" dirty="0"/>
            </a:br>
            <a:r>
              <a:rPr lang="en-US" dirty="0"/>
              <a:t>-  </a:t>
            </a:r>
            <a:r>
              <a:rPr lang="en-US" b="1" dirty="0"/>
              <a:t>Education</a:t>
            </a:r>
            <a:r>
              <a:rPr lang="en-US" dirty="0"/>
              <a:t>: related to employee </a:t>
            </a:r>
            <a:br>
              <a:rPr lang="en-US" dirty="0"/>
            </a:br>
            <a:r>
              <a:rPr lang="en-US" dirty="0"/>
              <a:t>development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Profile</a:t>
            </a:r>
            <a:r>
              <a:rPr lang="en-US" dirty="0"/>
              <a:t>: Consolidated employee profile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1248AD-8C9E-2AD3-3F2F-B25B5C1E5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135" y="827735"/>
            <a:ext cx="6938864" cy="597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03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0AF66-0136-9C90-B7DE-2D0BDA90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C78DF-EFFD-183E-40A6-5D2AA59A6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HR Department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898AD-A08A-93B4-E2FE-054B6EFA9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V. Retention</a:t>
            </a:r>
            <a:br>
              <a:rPr lang="en-US" b="1" dirty="0"/>
            </a:br>
            <a:endParaRPr lang="en-US" b="1" dirty="0"/>
          </a:p>
          <a:p>
            <a:pPr algn="l"/>
            <a:endParaRPr lang="en-US" b="1" dirty="0"/>
          </a:p>
          <a:p>
            <a:pPr algn="l"/>
            <a:r>
              <a:rPr lang="en-US" dirty="0"/>
              <a:t>- Global dashboard filter</a:t>
            </a:r>
          </a:p>
          <a:p>
            <a:pPr algn="l"/>
            <a:r>
              <a:rPr lang="en-US" dirty="0"/>
              <a:t>- KPI: Total Proposed Salary Increase</a:t>
            </a:r>
          </a:p>
          <a:p>
            <a:pPr algn="l"/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Retention Risk Details</a:t>
            </a:r>
            <a:r>
              <a:rPr lang="en-US" dirty="0"/>
              <a:t>: Key Drivers &amp;</a:t>
            </a:r>
            <a:br>
              <a:rPr lang="en-US" dirty="0"/>
            </a:br>
            <a:r>
              <a:rPr lang="en-US" dirty="0"/>
              <a:t>projected compensation impact.</a:t>
            </a:r>
          </a:p>
          <a:p>
            <a:pPr algn="l"/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CTA</a:t>
            </a:r>
            <a:r>
              <a:rPr lang="en-US" dirty="0"/>
              <a:t>: Recommended Retention Actions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ACB0C9-2BA0-EB0F-C273-07E9E4B9A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9" y="827735"/>
            <a:ext cx="7162799" cy="597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3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507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HR Department - BI</vt:lpstr>
      <vt:lpstr>HR Department - BI</vt:lpstr>
      <vt:lpstr>HR Department - BI</vt:lpstr>
      <vt:lpstr>HR Department - BI</vt:lpstr>
      <vt:lpstr>HR Department - BI</vt:lpstr>
      <vt:lpstr>HR Department - BI</vt:lpstr>
      <vt:lpstr>HR Department - BI</vt:lpstr>
      <vt:lpstr>HR Department -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Thiện Nguyễn Hoàng</dc:creator>
  <cp:lastModifiedBy>Thiện Nguyễn Hoàng</cp:lastModifiedBy>
  <cp:revision>15</cp:revision>
  <dcterms:created xsi:type="dcterms:W3CDTF">2026-01-28T13:18:56Z</dcterms:created>
  <dcterms:modified xsi:type="dcterms:W3CDTF">2026-01-31T07:02:05Z</dcterms:modified>
</cp:coreProperties>
</file>